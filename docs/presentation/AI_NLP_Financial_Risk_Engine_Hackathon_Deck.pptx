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C557C43-FE78-42DD-AFEC-119DC268E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91B5291-4D5C-4589-9F72-EC21848F5F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037ED5E0-7A94-41BF-B6D0-8396CB99D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9C92734-35B7-4EE6-B139-7525BC3E3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A48E6022-1AF6-4889-97C1-4D66987DC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FD98CAAD-8057-4641-8DF0-F9C942083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E3BC366-7160-4447-A02A-0BB238DD5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BB9B780A-5A4B-4129-8713-D8DBDD468A1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C06D574-D748-443F-BA54-A38A4D451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10A1054-7A00-4ECD-B5AF-BD9B5ED54E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B8DF19E-9ABF-491B-928C-99E413CAA7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6BFD2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E1E8B4-2852-43E6-A732-CC490028B9EB}"/>
              </a:ext>
            </a:extLst>
          </p:cNvPr>
          <p:cNvSpPr>
            <a:spLocks noGrp="1"/>
          </p:cNvSpPr>
          <p:nvPr/>
        </p:nvSpPr>
        <p:spPr>
          <a:xfrm>
            <a:off x="762000" y="685800"/>
            <a:ext cx="4953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6BFD2"/>
                </a:solidFill>
                <a:latin typeface="Aptos"/>
                <a:ea typeface="Aptos"/>
                <a:cs typeface="Aptos"/>
              </a:rPr>
              <a:t>S&amp;P GLOBAL &amp; CRISIL</a:t>
            </a:r>
          </a:p>
          <a:p>
            <a:pPr algn="l">
              <a:lnSpc>
                <a:spcPct val="105000"/>
              </a:lnSpc>
              <a:buNone/>
              <a:defRPr sz="1125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6BFD2"/>
                </a:solidFill>
                <a:latin typeface="Aptos"/>
                <a:ea typeface="Aptos"/>
                <a:cs typeface="Aptos"/>
              </a:rPr>
              <a:t>CAMPUS HACKATHON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09DFC4-4189-4993-B4EA-5D03D96AA736}"/>
              </a:ext>
            </a:extLst>
          </p:cNvPr>
          <p:cNvSpPr>
            <a:spLocks noGrp="1"/>
          </p:cNvSpPr>
          <p:nvPr/>
        </p:nvSpPr>
        <p:spPr>
          <a:xfrm>
            <a:off x="762000" y="1733550"/>
            <a:ext cx="6667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AI/NLP Financial</a:t>
            </a:r>
          </a:p>
          <a:p>
            <a:pPr algn="l">
              <a:lnSpc>
                <a:spcPct val="105000"/>
              </a:lnSpc>
              <a:buNone/>
              <a:defRPr sz="4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5A4A2D-A7B7-478C-8013-595FBE37519B}"/>
              </a:ext>
            </a:extLst>
          </p:cNvPr>
          <p:cNvSpPr>
            <a:spLocks noGrp="1"/>
          </p:cNvSpPr>
          <p:nvPr/>
        </p:nvSpPr>
        <p:spPr>
          <a:xfrm>
            <a:off x="800100" y="3543300"/>
            <a:ext cx="657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72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C9D9E9"/>
                </a:solidFill>
                <a:latin typeface="Aptos"/>
                <a:ea typeface="Aptos"/>
                <a:cs typeface="Aptos"/>
              </a:rPr>
              <a:t>Converting live financial news and social text into structured risk signals for tactical index rebalancing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B17A7C-8356-4CA3-A975-3016D96F4CB7}"/>
              </a:ext>
            </a:extLst>
          </p:cNvPr>
          <p:cNvSpPr>
            <a:spLocks noGrp="1"/>
          </p:cNvSpPr>
          <p:nvPr/>
        </p:nvSpPr>
        <p:spPr>
          <a:xfrm>
            <a:off x="800100" y="4895850"/>
            <a:ext cx="6096000" cy="19050"/>
          </a:xfrm>
          <a:prstGeom prst="rect">
            <a:avLst/>
          </a:prstGeom>
          <a:solidFill>
            <a:srgbClr val="2B4B6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A2B6FC-ACE3-410A-8B12-60F221FC40C0}"/>
              </a:ext>
            </a:extLst>
          </p:cNvPr>
          <p:cNvSpPr>
            <a:spLocks noGrp="1"/>
          </p:cNvSpPr>
          <p:nvPr/>
        </p:nvSpPr>
        <p:spPr>
          <a:xfrm>
            <a:off x="800100" y="5143500"/>
            <a:ext cx="3238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Dakshesh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A4F16A-6CFA-4E77-BF2D-1E311779C208}"/>
              </a:ext>
            </a:extLst>
          </p:cNvPr>
          <p:cNvSpPr>
            <a:spLocks noGrp="1"/>
          </p:cNvSpPr>
          <p:nvPr/>
        </p:nvSpPr>
        <p:spPr>
          <a:xfrm>
            <a:off x="800100" y="5543550"/>
            <a:ext cx="561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9D9E9"/>
                </a:solidFill>
                <a:latin typeface="Aptos"/>
                <a:ea typeface="Aptos"/>
                <a:cs typeface="Aptos"/>
              </a:rPr>
              <a:t>BITS Pilani Goa Campus  |  f20230727@goa.bits-pilani.ac.in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34761F-F4CB-4D92-9094-6F28F48A2953}"/>
              </a:ext>
            </a:extLst>
          </p:cNvPr>
          <p:cNvSpPr>
            <a:spLocks noGrp="1"/>
          </p:cNvSpPr>
          <p:nvPr/>
        </p:nvSpPr>
        <p:spPr>
          <a:xfrm>
            <a:off x="800100" y="6038850"/>
            <a:ext cx="419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0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6BFD2"/>
                </a:solidFill>
                <a:latin typeface="Aptos"/>
                <a:ea typeface="Aptos"/>
                <a:cs typeface="Aptos"/>
              </a:rPr>
              <a:t>Module A: Tactical Index Rebalancing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DE6986A-FB1C-4FF8-B944-DDF7916933EB}"/>
              </a:ext>
            </a:extLst>
          </p:cNvPr>
          <p:cNvSpPr>
            <a:spLocks noGrp="1"/>
          </p:cNvSpPr>
          <p:nvPr/>
        </p:nvSpPr>
        <p:spPr>
          <a:xfrm>
            <a:off x="7981950" y="2428875"/>
            <a:ext cx="742950" cy="742950"/>
          </a:xfrm>
          <a:prstGeom prst="roundRect">
            <a:avLst>
              <a:gd name="adj" fmla="val 50000"/>
            </a:avLst>
          </a:prstGeom>
          <a:solidFill>
            <a:srgbClr val="14385B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866042-274F-4709-AAA8-125DE8D927F6}"/>
              </a:ext>
            </a:extLst>
          </p:cNvPr>
          <p:cNvSpPr>
            <a:spLocks noGrp="1"/>
          </p:cNvSpPr>
          <p:nvPr/>
        </p:nvSpPr>
        <p:spPr>
          <a:xfrm>
            <a:off x="8039100" y="2686050"/>
            <a:ext cx="628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NEWS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B66A0AC-A23A-4892-A882-6A1D1EC90A28}"/>
              </a:ext>
            </a:extLst>
          </p:cNvPr>
          <p:cNvSpPr>
            <a:spLocks noGrp="1"/>
          </p:cNvSpPr>
          <p:nvPr/>
        </p:nvSpPr>
        <p:spPr>
          <a:xfrm>
            <a:off x="9010650" y="3524250"/>
            <a:ext cx="742950" cy="742950"/>
          </a:xfrm>
          <a:prstGeom prst="roundRect">
            <a:avLst>
              <a:gd name="adj" fmla="val 50000"/>
            </a:avLst>
          </a:prstGeom>
          <a:solidFill>
            <a:srgbClr val="26BFD2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A4F1DB-DF0D-4CDD-8976-FC49B60C549D}"/>
              </a:ext>
            </a:extLst>
          </p:cNvPr>
          <p:cNvSpPr>
            <a:spLocks noGrp="1"/>
          </p:cNvSpPr>
          <p:nvPr/>
        </p:nvSpPr>
        <p:spPr>
          <a:xfrm>
            <a:off x="9067800" y="3781425"/>
            <a:ext cx="628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9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9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NLP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0507E8B-57A5-473F-8F77-95B8D8DCB4CB}"/>
              </a:ext>
            </a:extLst>
          </p:cNvPr>
          <p:cNvSpPr>
            <a:spLocks noGrp="1"/>
          </p:cNvSpPr>
          <p:nvPr/>
        </p:nvSpPr>
        <p:spPr>
          <a:xfrm>
            <a:off x="10039350" y="2428875"/>
            <a:ext cx="742950" cy="742950"/>
          </a:xfrm>
          <a:prstGeom prst="roundRect">
            <a:avLst>
              <a:gd name="adj" fmla="val 50000"/>
            </a:avLst>
          </a:prstGeom>
          <a:solidFill>
            <a:srgbClr val="14385B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51B358-35CA-4A27-878D-769EA6DA285C}"/>
              </a:ext>
            </a:extLst>
          </p:cNvPr>
          <p:cNvSpPr>
            <a:spLocks noGrp="1"/>
          </p:cNvSpPr>
          <p:nvPr/>
        </p:nvSpPr>
        <p:spPr>
          <a:xfrm>
            <a:off x="10096500" y="2686050"/>
            <a:ext cx="628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072AC83-0F9A-41C1-831E-609A8EBE252A}"/>
              </a:ext>
            </a:extLst>
          </p:cNvPr>
          <p:cNvSpPr>
            <a:spLocks noGrp="1"/>
          </p:cNvSpPr>
          <p:nvPr/>
        </p:nvSpPr>
        <p:spPr>
          <a:xfrm>
            <a:off x="11068050" y="3524250"/>
            <a:ext cx="742950" cy="742950"/>
          </a:xfrm>
          <a:prstGeom prst="roundRect">
            <a:avLst>
              <a:gd name="adj" fmla="val 50000"/>
            </a:avLst>
          </a:prstGeom>
          <a:solidFill>
            <a:srgbClr val="14385B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FC6993-87D4-46C2-B9A0-174221FC0F44}"/>
              </a:ext>
            </a:extLst>
          </p:cNvPr>
          <p:cNvSpPr>
            <a:spLocks noGrp="1"/>
          </p:cNvSpPr>
          <p:nvPr/>
        </p:nvSpPr>
        <p:spPr>
          <a:xfrm>
            <a:off x="11125200" y="3781425"/>
            <a:ext cx="628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729258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ection">
            <a:extLst>
              <a:ext uri="{FF2B5EF4-FFF2-40B4-BE49-F238E27FC236}">
                <a16:creationId xmlns:a16="http://schemas.microsoft.com/office/drawing/2014/main" id="{70E361F2-7734-47D2-902E-EACC414B3D44}"/>
              </a:ext>
            </a:extLst>
          </p:cNvPr>
          <p:cNvSpPr>
            <a:spLocks noGrp="1"/>
          </p:cNvSpPr>
          <p:nvPr/>
        </p:nvSpPr>
        <p:spPr>
          <a:xfrm>
            <a:off x="666750" y="4572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02  |  PROBLEM &amp; APPROACH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279A913-AFB1-4FCA-8294-6E6677268546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76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Financial risk signals arrive as unstructured text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C059EE91-F9EA-4D1C-99B1-188756E8E7A6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The project converts text into a signal that a portfolio application can use.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140D7D-9498-47E0-80C4-6A4EFBAFB850}"/>
              </a:ext>
            </a:extLst>
          </p:cNvPr>
          <p:cNvSpPr>
            <a:spLocks noGrp="1"/>
          </p:cNvSpPr>
          <p:nvPr/>
        </p:nvSpPr>
        <p:spPr>
          <a:xfrm>
            <a:off x="666750" y="188595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9E64C8-0C52-42B5-A2DD-93DAD30395E0}"/>
              </a:ext>
            </a:extLst>
          </p:cNvPr>
          <p:cNvSpPr>
            <a:spLocks noGrp="1"/>
          </p:cNvSpPr>
          <p:nvPr/>
        </p:nvSpPr>
        <p:spPr>
          <a:xfrm>
            <a:off x="838200" y="232410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THE BUSINESS PROBLEM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4CB9A9-8F04-4933-878B-1C6D7C094C15}"/>
              </a:ext>
            </a:extLst>
          </p:cNvPr>
          <p:cNvSpPr>
            <a:spLocks noGrp="1"/>
          </p:cNvSpPr>
          <p:nvPr/>
        </p:nvSpPr>
        <p:spPr>
          <a:xfrm>
            <a:off x="838200" y="2686050"/>
            <a:ext cx="4095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110" lnSpcReduction="20000"/>
          </a:bodyPr>
          <a:lstStyle>
            <a:defPPr algn="l">
              <a:defRPr sz="19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9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9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9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9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9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9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9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9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9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9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News headlines and social posts move quickly, yet they are difficult to interpret consistently across companies and event types.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5A9C25B-15F3-4C1E-9047-BA2A366AF5F7}"/>
              </a:ext>
            </a:extLst>
          </p:cNvPr>
          <p:cNvSpPr>
            <a:spLocks noGrp="1"/>
          </p:cNvSpPr>
          <p:nvPr/>
        </p:nvSpPr>
        <p:spPr>
          <a:xfrm>
            <a:off x="838200" y="40862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D98518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A28EC8-04A3-4D0F-AB42-953A5A0DBDE0}"/>
              </a:ext>
            </a:extLst>
          </p:cNvPr>
          <p:cNvSpPr>
            <a:spLocks noGrp="1"/>
          </p:cNvSpPr>
          <p:nvPr/>
        </p:nvSpPr>
        <p:spPr>
          <a:xfrm>
            <a:off x="1047750" y="4000500"/>
            <a:ext cx="38862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C213E"/>
                </a:solidFill>
                <a:latin typeface="Aptos"/>
                <a:ea typeface="Aptos"/>
                <a:cs typeface="Aptos"/>
              </a:rPr>
              <a:t>Decision makers need a concise signal rather than a raw text feed.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8253031-E303-44E2-8722-54272D7E630C}"/>
              </a:ext>
            </a:extLst>
          </p:cNvPr>
          <p:cNvSpPr>
            <a:spLocks noGrp="1"/>
          </p:cNvSpPr>
          <p:nvPr/>
        </p:nvSpPr>
        <p:spPr>
          <a:xfrm>
            <a:off x="838200" y="45910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D98518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A7644D-4DE1-4631-918B-29100F9A9CA6}"/>
              </a:ext>
            </a:extLst>
          </p:cNvPr>
          <p:cNvSpPr>
            <a:spLocks noGrp="1"/>
          </p:cNvSpPr>
          <p:nvPr/>
        </p:nvSpPr>
        <p:spPr>
          <a:xfrm>
            <a:off x="1047750" y="4505325"/>
            <a:ext cx="38862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275" b="0" dirty="0">
                <a:solidFill>
                  <a:srgbClr val="0C213E"/>
                </a:solidFill>
                <a:latin typeface="Aptos"/>
                <a:ea typeface="Aptos"/>
                <a:cs typeface="Aptos"/>
              </a:rPr>
              <a:t>Keyword rules fail when wording is indirect, mixed, or negated.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9968830-8A4A-49C8-B04B-0471F27A3D9A}"/>
              </a:ext>
            </a:extLst>
          </p:cNvPr>
          <p:cNvSpPr>
            <a:spLocks noGrp="1"/>
          </p:cNvSpPr>
          <p:nvPr/>
        </p:nvSpPr>
        <p:spPr>
          <a:xfrm>
            <a:off x="838200" y="50958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D98518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EE70D42-55CD-4861-B2AD-A8468C769885}"/>
              </a:ext>
            </a:extLst>
          </p:cNvPr>
          <p:cNvSpPr>
            <a:spLocks noGrp="1"/>
          </p:cNvSpPr>
          <p:nvPr/>
        </p:nvSpPr>
        <p:spPr>
          <a:xfrm>
            <a:off x="1047750" y="5010150"/>
            <a:ext cx="38862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C213E"/>
                </a:solidFill>
                <a:latin typeface="Aptos"/>
                <a:ea typeface="Aptos"/>
                <a:cs typeface="Aptos"/>
              </a:rPr>
              <a:t>A downstream model needs structured fields and a traceable change in exposure.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5D3EF7-E633-471C-A6F1-051B9B857C13}"/>
              </a:ext>
            </a:extLst>
          </p:cNvPr>
          <p:cNvSpPr>
            <a:spLocks noGrp="1"/>
          </p:cNvSpPr>
          <p:nvPr/>
        </p:nvSpPr>
        <p:spPr>
          <a:xfrm>
            <a:off x="5448300" y="2305050"/>
            <a:ext cx="9525" cy="3638550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E55113-7E35-449B-927B-2694BD4141B2}"/>
              </a:ext>
            </a:extLst>
          </p:cNvPr>
          <p:cNvSpPr>
            <a:spLocks noGrp="1"/>
          </p:cNvSpPr>
          <p:nvPr/>
        </p:nvSpPr>
        <p:spPr>
          <a:xfrm>
            <a:off x="6019800" y="2324100"/>
            <a:ext cx="3905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THE PROJECT APPROACH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1F85AB-F894-4194-8CC0-91407FA9B88E}"/>
              </a:ext>
            </a:extLst>
          </p:cNvPr>
          <p:cNvSpPr>
            <a:spLocks noGrp="1"/>
          </p:cNvSpPr>
          <p:nvPr/>
        </p:nvSpPr>
        <p:spPr>
          <a:xfrm>
            <a:off x="6019800" y="2686050"/>
            <a:ext cx="4476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339" lnSpcReduction="10000"/>
          </a:bodyPr>
          <a:lstStyle>
            <a:defPPr algn="l">
              <a:defRPr sz="21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21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A unified NLP engine feeds a tactical mock index.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836AB40-C37F-4D2E-9834-816698382E6A}"/>
              </a:ext>
            </a:extLst>
          </p:cNvPr>
          <p:cNvSpPr>
            <a:spLocks noGrp="1"/>
          </p:cNvSpPr>
          <p:nvPr/>
        </p:nvSpPr>
        <p:spPr>
          <a:xfrm>
            <a:off x="5848350" y="3422548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F8D9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8C045D-0071-4D21-8541-649F9731F616}"/>
              </a:ext>
            </a:extLst>
          </p:cNvPr>
          <p:cNvSpPr>
            <a:spLocks noGrp="1"/>
          </p:cNvSpPr>
          <p:nvPr/>
        </p:nvSpPr>
        <p:spPr>
          <a:xfrm>
            <a:off x="6372225" y="3417325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71A33"/>
                </a:solidFill>
                <a:latin typeface="Aptos"/>
                <a:ea typeface="Aptos"/>
                <a:cs typeface="Aptos"/>
              </a:rPr>
              <a:t>Ingest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FD22EE1-E710-422A-8996-AC5525FB3A96}"/>
              </a:ext>
            </a:extLst>
          </p:cNvPr>
          <p:cNvSpPr>
            <a:spLocks noGrp="1"/>
          </p:cNvSpPr>
          <p:nvPr/>
        </p:nvSpPr>
        <p:spPr>
          <a:xfrm>
            <a:off x="6191248" y="3749777"/>
            <a:ext cx="4762501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53657A"/>
                </a:solidFill>
                <a:latin typeface="Aptos"/>
                <a:ea typeface="Aptos"/>
                <a:cs typeface="Aptos"/>
              </a:rPr>
              <a:t>Fetch current </a:t>
            </a:r>
            <a:r>
              <a:rPr sz="1200" b="0" dirty="0" err="1">
                <a:solidFill>
                  <a:srgbClr val="53657A"/>
                </a:solidFill>
                <a:latin typeface="Aptos"/>
                <a:ea typeface="Aptos"/>
                <a:cs typeface="Aptos"/>
              </a:rPr>
              <a:t>NewsAPI</a:t>
            </a:r>
            <a:r>
              <a:rPr sz="1200" b="0" dirty="0">
                <a:solidFill>
                  <a:srgbClr val="53657A"/>
                </a:solidFill>
                <a:latin typeface="Aptos"/>
                <a:ea typeface="Aptos"/>
                <a:cs typeface="Aptos"/>
              </a:rPr>
              <a:t> articles and read</a:t>
            </a:r>
            <a:r>
              <a:rPr lang="en-IN" sz="1200" b="0" dirty="0">
                <a:solidFill>
                  <a:srgbClr val="53657A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>
                <a:solidFill>
                  <a:srgbClr val="53657A"/>
                </a:solidFill>
                <a:latin typeface="Aptos"/>
                <a:ea typeface="Aptos"/>
                <a:cs typeface="Aptos"/>
              </a:rPr>
              <a:t>social posts from a CSV file.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53CECD-5F04-4F1D-8606-6A208FC9C506}"/>
              </a:ext>
            </a:extLst>
          </p:cNvPr>
          <p:cNvSpPr>
            <a:spLocks noGrp="1"/>
          </p:cNvSpPr>
          <p:nvPr/>
        </p:nvSpPr>
        <p:spPr>
          <a:xfrm>
            <a:off x="5848350" y="4276418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F8D9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7FB6446-0499-4BCB-A236-253257D05C52}"/>
              </a:ext>
            </a:extLst>
          </p:cNvPr>
          <p:cNvSpPr>
            <a:spLocks noGrp="1"/>
          </p:cNvSpPr>
          <p:nvPr/>
        </p:nvSpPr>
        <p:spPr>
          <a:xfrm>
            <a:off x="6372225" y="4264127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71A33"/>
                </a:solidFill>
                <a:latin typeface="Aptos"/>
                <a:ea typeface="Aptos"/>
                <a:cs typeface="Aptos"/>
              </a:rPr>
              <a:t>Interpret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8EBB92-016C-4DA5-B098-8ED6D7786C98}"/>
              </a:ext>
            </a:extLst>
          </p:cNvPr>
          <p:cNvSpPr>
            <a:spLocks noGrp="1"/>
          </p:cNvSpPr>
          <p:nvPr/>
        </p:nvSpPr>
        <p:spPr>
          <a:xfrm>
            <a:off x="6181416" y="4654652"/>
            <a:ext cx="3876984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53657A"/>
                </a:solidFill>
                <a:latin typeface="Aptos"/>
                <a:ea typeface="Aptos"/>
                <a:cs typeface="Aptos"/>
              </a:rPr>
              <a:t>Use </a:t>
            </a:r>
            <a:r>
              <a:rPr sz="1200" b="0" dirty="0" err="1">
                <a:solidFill>
                  <a:srgbClr val="53657A"/>
                </a:solidFill>
                <a:latin typeface="Aptos"/>
                <a:ea typeface="Aptos"/>
                <a:cs typeface="Aptos"/>
              </a:rPr>
              <a:t>FinBERT</a:t>
            </a:r>
            <a:r>
              <a:rPr sz="1200" b="0" dirty="0">
                <a:solidFill>
                  <a:srgbClr val="53657A"/>
                </a:solidFill>
                <a:latin typeface="Aptos"/>
                <a:ea typeface="Aptos"/>
                <a:cs typeface="Aptos"/>
              </a:rPr>
              <a:t> sentiment plus zero-shot event classification.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5AF14B-CDF2-4371-AC1B-A02C7291A329}"/>
              </a:ext>
            </a:extLst>
          </p:cNvPr>
          <p:cNvSpPr>
            <a:spLocks noGrp="1"/>
          </p:cNvSpPr>
          <p:nvPr/>
        </p:nvSpPr>
        <p:spPr>
          <a:xfrm>
            <a:off x="5848350" y="5163471"/>
            <a:ext cx="609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6BFD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455485-8C58-4CE2-9199-015954D1077E}"/>
              </a:ext>
            </a:extLst>
          </p:cNvPr>
          <p:cNvSpPr>
            <a:spLocks noGrp="1"/>
          </p:cNvSpPr>
          <p:nvPr/>
        </p:nvSpPr>
        <p:spPr>
          <a:xfrm>
            <a:off x="6372225" y="5138584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71A33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28A0DD-CDCF-466F-B268-9B5CC333AE3E}"/>
              </a:ext>
            </a:extLst>
          </p:cNvPr>
          <p:cNvSpPr>
            <a:spLocks noGrp="1"/>
          </p:cNvSpPr>
          <p:nvPr/>
        </p:nvSpPr>
        <p:spPr>
          <a:xfrm>
            <a:off x="6191248" y="5515589"/>
            <a:ext cx="4996632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53657A"/>
                </a:solidFill>
                <a:latin typeface="Aptos"/>
                <a:ea typeface="Aptos"/>
                <a:cs typeface="Aptos"/>
              </a:rPr>
              <a:t>Score impact, rebalance the index, and show the result in a dashboard.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DC49A5-009C-4B3D-940A-76B32C826C0F}"/>
              </a:ext>
            </a:extLst>
          </p:cNvPr>
          <p:cNvSpPr>
            <a:spLocks noGrp="1"/>
          </p:cNvSpPr>
          <p:nvPr/>
        </p:nvSpPr>
        <p:spPr>
          <a:xfrm>
            <a:off x="876300" y="6657975"/>
            <a:ext cx="344805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AAE8ABA-6110-4A33-9522-6D56F556ECB4}"/>
              </a:ext>
            </a:extLst>
          </p:cNvPr>
          <p:cNvSpPr>
            <a:spLocks noGrp="1"/>
          </p:cNvSpPr>
          <p:nvPr/>
        </p:nvSpPr>
        <p:spPr>
          <a:xfrm>
            <a:off x="666750" y="640080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F10E17F-7FAB-410E-B17A-7CB06C29A285}"/>
              </a:ext>
            </a:extLst>
          </p:cNvPr>
          <p:cNvSpPr>
            <a:spLocks noGrp="1"/>
          </p:cNvSpPr>
          <p:nvPr/>
        </p:nvSpPr>
        <p:spPr>
          <a:xfrm>
            <a:off x="666750" y="6543675"/>
            <a:ext cx="8382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AI/NLP Financial Risk Engine  |  S&amp;P Global &amp; Crisil Campus Hackathon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723294-762E-45F5-9ECC-AF737CD18186}"/>
              </a:ext>
            </a:extLst>
          </p:cNvPr>
          <p:cNvSpPr>
            <a:spLocks noGrp="1"/>
          </p:cNvSpPr>
          <p:nvPr/>
        </p:nvSpPr>
        <p:spPr>
          <a:xfrm>
            <a:off x="10953750" y="65151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lnSpc>
                <a:spcPct val="105000"/>
              </a:lnSpc>
              <a:buNone/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8287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75832C6-B9F4-4E59-8D9D-62A559ADA95D}"/>
              </a:ext>
            </a:extLst>
          </p:cNvPr>
          <p:cNvCxnSpPr>
            <a:stCxn id="20" idx="3"/>
            <a:endCxn id="23" idx="1"/>
          </p:cNvCxnSpPr>
          <p:nvPr/>
        </p:nvCxnSpPr>
        <p:spPr>
          <a:xfrm>
            <a:off x="9315450" y="3819525"/>
            <a:ext cx="609600" cy="0"/>
          </a:xfrm>
          <a:prstGeom prst="straightConnector1">
            <a:avLst/>
          </a:prstGeom>
          <a:ln w="19050">
            <a:solidFill>
              <a:srgbClr val="0F8D9B"/>
            </a:solidFill>
            <a:prstDash val="solid"/>
            <a:headEnd type="arrow" w="sm" len="sm"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F561D762-8881-4DA4-A92E-0F610564D208}"/>
              </a:ext>
            </a:extLst>
          </p:cNvPr>
          <p:cNvCxnSpPr>
            <a:stCxn id="15" idx="3"/>
            <a:endCxn id="20" idx="1"/>
          </p:cNvCxnSpPr>
          <p:nvPr/>
        </p:nvCxnSpPr>
        <p:spPr>
          <a:xfrm flipV="1">
            <a:off x="7048500" y="3819525"/>
            <a:ext cx="609600" cy="771525"/>
          </a:xfrm>
          <a:prstGeom prst="bentConnector3">
            <a:avLst>
              <a:gd name="adj1" fmla="val 50000"/>
            </a:avLst>
          </a:prstGeom>
          <a:ln w="19050">
            <a:solidFill>
              <a:srgbClr val="0F8D9B"/>
            </a:solidFill>
            <a:prstDash val="solid"/>
            <a:headEnd type="arrow" w="sm" len="sm"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7AC80F0-BA43-4E56-A66F-3B702383BEC1}"/>
              </a:ext>
            </a:extLst>
          </p:cNvPr>
          <p:cNvCxnSpPr>
            <a:stCxn id="14" idx="3"/>
            <a:endCxn id="20" idx="1"/>
          </p:cNvCxnSpPr>
          <p:nvPr/>
        </p:nvCxnSpPr>
        <p:spPr>
          <a:xfrm>
            <a:off x="7048500" y="3009900"/>
            <a:ext cx="609600" cy="809625"/>
          </a:xfrm>
          <a:prstGeom prst="bentConnector3">
            <a:avLst>
              <a:gd name="adj1" fmla="val 50000"/>
            </a:avLst>
          </a:prstGeom>
          <a:ln w="19050">
            <a:solidFill>
              <a:srgbClr val="0F8D9B"/>
            </a:solidFill>
            <a:prstDash val="solid"/>
            <a:headEnd type="arrow" w="sm" len="sm"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B50D994-F69A-4A18-B1D1-9102AB278C41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>
            <a:off x="4724400" y="3819525"/>
            <a:ext cx="666750" cy="771525"/>
          </a:xfrm>
          <a:prstGeom prst="bentConnector3">
            <a:avLst>
              <a:gd name="adj1" fmla="val 50000"/>
            </a:avLst>
          </a:prstGeom>
          <a:ln w="19050">
            <a:solidFill>
              <a:srgbClr val="0F8D9B"/>
            </a:solidFill>
            <a:prstDash val="solid"/>
            <a:headEnd type="arrow" w="sm" len="sm"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F9C466E4-FD82-4C36-B312-5E3FF0110294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 flipV="1">
            <a:off x="4724400" y="3009900"/>
            <a:ext cx="666750" cy="809625"/>
          </a:xfrm>
          <a:prstGeom prst="bentConnector3">
            <a:avLst>
              <a:gd name="adj1" fmla="val 50000"/>
            </a:avLst>
          </a:prstGeom>
          <a:ln w="19050">
            <a:solidFill>
              <a:srgbClr val="0F8D9B"/>
            </a:solidFill>
            <a:prstDash val="solid"/>
            <a:headEnd type="arrow" w="sm" len="sm"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64961BF2-CEF1-4F37-9146-16D4D0B27171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2419350" y="3819525"/>
            <a:ext cx="685800" cy="676275"/>
          </a:xfrm>
          <a:prstGeom prst="bentConnector3">
            <a:avLst>
              <a:gd name="adj1" fmla="val 50000"/>
            </a:avLst>
          </a:prstGeom>
          <a:ln w="19050">
            <a:solidFill>
              <a:srgbClr val="0F8D9B"/>
            </a:solidFill>
            <a:prstDash val="solid"/>
            <a:headEnd type="arrow" w="sm" len="sm"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36F2A64-72E4-442E-98B5-9A8BDEA7D31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2419350" y="3124200"/>
            <a:ext cx="685800" cy="695325"/>
          </a:xfrm>
          <a:prstGeom prst="bentConnector3">
            <a:avLst>
              <a:gd name="adj1" fmla="val 50000"/>
            </a:avLst>
          </a:prstGeom>
          <a:ln w="19050">
            <a:solidFill>
              <a:srgbClr val="0F8D9B"/>
            </a:solidFill>
            <a:prstDash val="solid"/>
            <a:headEnd type="arrow" w="sm" len="sm"/>
          </a:ln>
        </p:spPr>
      </p:cxnSp>
      <p:sp>
        <p:nvSpPr>
          <p:cNvPr id="37" name="section">
            <a:extLst>
              <a:ext uri="{FF2B5EF4-FFF2-40B4-BE49-F238E27FC236}">
                <a16:creationId xmlns:a16="http://schemas.microsoft.com/office/drawing/2014/main" id="{B0C2E53F-C4D7-4976-BAC5-78F90D656B44}"/>
              </a:ext>
            </a:extLst>
          </p:cNvPr>
          <p:cNvSpPr>
            <a:spLocks noGrp="1"/>
          </p:cNvSpPr>
          <p:nvPr/>
        </p:nvSpPr>
        <p:spPr>
          <a:xfrm>
            <a:off x="666750" y="4572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03  |  SYSTEM DESIGN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ABAF9C4-B8DE-444E-9090-B96C71447C9B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76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Data flow from text sources to portfolio action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753144F-77F5-407D-81EA-62E108A57B0E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Each component produces an inspectable output for the next component.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B59CD1-FA31-41B0-BF1D-068EE7A9C742}"/>
              </a:ext>
            </a:extLst>
          </p:cNvPr>
          <p:cNvSpPr>
            <a:spLocks noGrp="1"/>
          </p:cNvSpPr>
          <p:nvPr/>
        </p:nvSpPr>
        <p:spPr>
          <a:xfrm>
            <a:off x="666750" y="188595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newsapi">
            <a:extLst>
              <a:ext uri="{FF2B5EF4-FFF2-40B4-BE49-F238E27FC236}">
                <a16:creationId xmlns:a16="http://schemas.microsoft.com/office/drawing/2014/main" id="{5CA25428-50E6-47CA-8E24-2F7C09AB2043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169545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9525">
            <a:solidFill>
              <a:srgbClr val="C9D5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ocialcsv">
            <a:extLst>
              <a:ext uri="{FF2B5EF4-FFF2-40B4-BE49-F238E27FC236}">
                <a16:creationId xmlns:a16="http://schemas.microsoft.com/office/drawing/2014/main" id="{542B9EEA-926F-4F29-AD15-ED0355A2BCFA}"/>
              </a:ext>
            </a:extLst>
          </p:cNvPr>
          <p:cNvSpPr>
            <a:spLocks noGrp="1"/>
          </p:cNvSpPr>
          <p:nvPr/>
        </p:nvSpPr>
        <p:spPr>
          <a:xfrm>
            <a:off x="723900" y="4038600"/>
            <a:ext cx="169545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9525">
            <a:solidFill>
              <a:srgbClr val="C9D5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46426D-3832-49C2-979B-824871727CE2}"/>
              </a:ext>
            </a:extLst>
          </p:cNvPr>
          <p:cNvSpPr>
            <a:spLocks noGrp="1"/>
          </p:cNvSpPr>
          <p:nvPr/>
        </p:nvSpPr>
        <p:spPr>
          <a:xfrm>
            <a:off x="895350" y="2857500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203" lnSpcReduction="10000"/>
          </a:bodyPr>
          <a:lstStyle>
            <a:def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NewsAPI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420276-E43D-492F-93F5-1A084D034BD2}"/>
              </a:ext>
            </a:extLst>
          </p:cNvPr>
          <p:cNvSpPr>
            <a:spLocks noGrp="1"/>
          </p:cNvSpPr>
          <p:nvPr/>
        </p:nvSpPr>
        <p:spPr>
          <a:xfrm>
            <a:off x="895350" y="3171825"/>
            <a:ext cx="1314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Live company news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192677-AC8A-4C55-A5F7-7228A187A1BF}"/>
              </a:ext>
            </a:extLst>
          </p:cNvPr>
          <p:cNvSpPr>
            <a:spLocks noGrp="1"/>
          </p:cNvSpPr>
          <p:nvPr/>
        </p:nvSpPr>
        <p:spPr>
          <a:xfrm>
            <a:off x="895350" y="4229100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203" lnSpcReduction="10000"/>
          </a:bodyPr>
          <a:lstStyle>
            <a:def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ctr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Social CSV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4C4268-08C9-4D5F-9FAA-48868C0E5FCB}"/>
              </a:ext>
            </a:extLst>
          </p:cNvPr>
          <p:cNvSpPr>
            <a:spLocks noGrp="1"/>
          </p:cNvSpPr>
          <p:nvPr/>
        </p:nvSpPr>
        <p:spPr>
          <a:xfrm>
            <a:off x="895350" y="4543425"/>
            <a:ext cx="1314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Scenario posts</a:t>
            </a:r>
          </a:p>
        </p:txBody>
      </p:sp>
      <p:sp>
        <p:nvSpPr>
          <p:cNvPr id="11" name="ingestion">
            <a:extLst>
              <a:ext uri="{FF2B5EF4-FFF2-40B4-BE49-F238E27FC236}">
                <a16:creationId xmlns:a16="http://schemas.microsoft.com/office/drawing/2014/main" id="{C7FDA61A-FD1E-4CC4-8BF9-D3E363DD8496}"/>
              </a:ext>
            </a:extLst>
          </p:cNvPr>
          <p:cNvSpPr>
            <a:spLocks noGrp="1"/>
          </p:cNvSpPr>
          <p:nvPr/>
        </p:nvSpPr>
        <p:spPr>
          <a:xfrm>
            <a:off x="3105150" y="3333750"/>
            <a:ext cx="1619250" cy="971550"/>
          </a:xfrm>
          <a:prstGeom prst="roundRect">
            <a:avLst>
              <a:gd name="adj" fmla="val 13725"/>
            </a:avLst>
          </a:prstGeom>
          <a:solidFill>
            <a:srgbClr val="DDF6F8"/>
          </a:solidFill>
          <a:ln w="9525">
            <a:solidFill>
              <a:srgbClr val="A7DF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BF6E2E-1CED-4022-9D1F-3D764A103A26}"/>
              </a:ext>
            </a:extLst>
          </p:cNvPr>
          <p:cNvSpPr>
            <a:spLocks noGrp="1"/>
          </p:cNvSpPr>
          <p:nvPr/>
        </p:nvSpPr>
        <p:spPr>
          <a:xfrm>
            <a:off x="3276600" y="3552825"/>
            <a:ext cx="1276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Ingestion layer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4C7D66-733A-424C-85CB-BA6F73AE3BE5}"/>
              </a:ext>
            </a:extLst>
          </p:cNvPr>
          <p:cNvSpPr>
            <a:spLocks noGrp="1"/>
          </p:cNvSpPr>
          <p:nvPr/>
        </p:nvSpPr>
        <p:spPr>
          <a:xfrm>
            <a:off x="3276600" y="3876675"/>
            <a:ext cx="1276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Filter seen news</a:t>
            </a:r>
          </a:p>
          <a:p>
            <a:pPr algn="ctr">
              <a:lnSpc>
                <a:spcPct val="105000"/>
              </a:lnSpc>
              <a:buNone/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Read social posts</a:t>
            </a:r>
          </a:p>
        </p:txBody>
      </p:sp>
      <p:sp>
        <p:nvSpPr>
          <p:cNvPr id="14" name="finbert">
            <a:extLst>
              <a:ext uri="{FF2B5EF4-FFF2-40B4-BE49-F238E27FC236}">
                <a16:creationId xmlns:a16="http://schemas.microsoft.com/office/drawing/2014/main" id="{D528595C-075D-4841-8277-79CD6137C87B}"/>
              </a:ext>
            </a:extLst>
          </p:cNvPr>
          <p:cNvSpPr>
            <a:spLocks noGrp="1"/>
          </p:cNvSpPr>
          <p:nvPr/>
        </p:nvSpPr>
        <p:spPr>
          <a:xfrm>
            <a:off x="5391150" y="2533650"/>
            <a:ext cx="1657350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9D5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event">
            <a:extLst>
              <a:ext uri="{FF2B5EF4-FFF2-40B4-BE49-F238E27FC236}">
                <a16:creationId xmlns:a16="http://schemas.microsoft.com/office/drawing/2014/main" id="{0FFAE5ED-2B15-4F5E-8FC2-F8B31026579D}"/>
              </a:ext>
            </a:extLst>
          </p:cNvPr>
          <p:cNvSpPr>
            <a:spLocks noGrp="1"/>
          </p:cNvSpPr>
          <p:nvPr/>
        </p:nvSpPr>
        <p:spPr>
          <a:xfrm>
            <a:off x="5391150" y="4114800"/>
            <a:ext cx="1657350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9D5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70F051-C054-4C71-BDA8-73F645E7C7E2}"/>
              </a:ext>
            </a:extLst>
          </p:cNvPr>
          <p:cNvSpPr>
            <a:spLocks noGrp="1"/>
          </p:cNvSpPr>
          <p:nvPr/>
        </p:nvSpPr>
        <p:spPr>
          <a:xfrm>
            <a:off x="5581650" y="2762250"/>
            <a:ext cx="1276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238"/>
          </a:bodyPr>
          <a:lstStyle>
            <a:def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FinBERT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3C8565-62F4-46AB-B2B8-71AC3AA69093}"/>
              </a:ext>
            </a:extLst>
          </p:cNvPr>
          <p:cNvSpPr>
            <a:spLocks noGrp="1"/>
          </p:cNvSpPr>
          <p:nvPr/>
        </p:nvSpPr>
        <p:spPr>
          <a:xfrm>
            <a:off x="5581650" y="3076575"/>
            <a:ext cx="1276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Financial sentiment</a:t>
            </a:r>
          </a:p>
          <a:p>
            <a:pPr algn="ctr">
              <a:lnSpc>
                <a:spcPct val="105000"/>
              </a:lnSpc>
              <a:buNone/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and confidence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2E6A57-E481-4892-8A50-21999B8E5D2E}"/>
              </a:ext>
            </a:extLst>
          </p:cNvPr>
          <p:cNvSpPr>
            <a:spLocks noGrp="1"/>
          </p:cNvSpPr>
          <p:nvPr/>
        </p:nvSpPr>
        <p:spPr>
          <a:xfrm>
            <a:off x="5581650" y="4343400"/>
            <a:ext cx="1276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238"/>
          </a:bodyPr>
          <a:lstStyle>
            <a:def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50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Event classifier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DFF6CB-ECBE-4A2A-A2D2-F61C63A1223B}"/>
              </a:ext>
            </a:extLst>
          </p:cNvPr>
          <p:cNvSpPr>
            <a:spLocks noGrp="1"/>
          </p:cNvSpPr>
          <p:nvPr/>
        </p:nvSpPr>
        <p:spPr>
          <a:xfrm>
            <a:off x="5581650" y="4657725"/>
            <a:ext cx="1276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Zero-shot category</a:t>
            </a:r>
          </a:p>
          <a:p>
            <a:pPr algn="ctr">
              <a:lnSpc>
                <a:spcPct val="105000"/>
              </a:lnSpc>
              <a:buNone/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and confidence</a:t>
            </a:r>
          </a:p>
        </p:txBody>
      </p:sp>
      <p:sp>
        <p:nvSpPr>
          <p:cNvPr id="20" name="impact">
            <a:extLst>
              <a:ext uri="{FF2B5EF4-FFF2-40B4-BE49-F238E27FC236}">
                <a16:creationId xmlns:a16="http://schemas.microsoft.com/office/drawing/2014/main" id="{B23A3A13-8E20-4F4D-87E2-A1364923BD87}"/>
              </a:ext>
            </a:extLst>
          </p:cNvPr>
          <p:cNvSpPr>
            <a:spLocks noGrp="1"/>
          </p:cNvSpPr>
          <p:nvPr/>
        </p:nvSpPr>
        <p:spPr>
          <a:xfrm>
            <a:off x="7658100" y="3333750"/>
            <a:ext cx="1657350" cy="971550"/>
          </a:xfrm>
          <a:prstGeom prst="roundRect">
            <a:avLst>
              <a:gd name="adj" fmla="val 13725"/>
            </a:avLst>
          </a:prstGeom>
          <a:solidFill>
            <a:srgbClr val="EAE6FF"/>
          </a:solidFill>
          <a:ln w="9525">
            <a:solidFill>
              <a:srgbClr val="CFC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06CFBD-F747-40B6-8459-E9331D6324D6}"/>
              </a:ext>
            </a:extLst>
          </p:cNvPr>
          <p:cNvSpPr>
            <a:spLocks noGrp="1"/>
          </p:cNvSpPr>
          <p:nvPr/>
        </p:nvSpPr>
        <p:spPr>
          <a:xfrm>
            <a:off x="7848600" y="3552825"/>
            <a:ext cx="1276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ctr"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4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Impact scoring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5A40FD-FA66-4FFA-9C7B-B6C662CB1C1D}"/>
              </a:ext>
            </a:extLst>
          </p:cNvPr>
          <p:cNvSpPr>
            <a:spLocks noGrp="1"/>
          </p:cNvSpPr>
          <p:nvPr/>
        </p:nvSpPr>
        <p:spPr>
          <a:xfrm>
            <a:off x="7848600" y="3876675"/>
            <a:ext cx="1276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ctr"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Structured risk</a:t>
            </a:r>
          </a:p>
          <a:p>
            <a:pPr algn="ctr">
              <a:lnSpc>
                <a:spcPct val="105000"/>
              </a:lnSpc>
              <a:buNone/>
              <a:defRPr sz="10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signal</a:t>
            </a:r>
          </a:p>
        </p:txBody>
      </p:sp>
      <p:sp>
        <p:nvSpPr>
          <p:cNvPr id="23" name="rebalancer">
            <a:extLst>
              <a:ext uri="{FF2B5EF4-FFF2-40B4-BE49-F238E27FC236}">
                <a16:creationId xmlns:a16="http://schemas.microsoft.com/office/drawing/2014/main" id="{1E8C9C8D-17D2-4A95-B663-1F0D622B0FF1}"/>
              </a:ext>
            </a:extLst>
          </p:cNvPr>
          <p:cNvSpPr>
            <a:spLocks noGrp="1"/>
          </p:cNvSpPr>
          <p:nvPr/>
        </p:nvSpPr>
        <p:spPr>
          <a:xfrm>
            <a:off x="9925050" y="3333750"/>
            <a:ext cx="1524000" cy="971550"/>
          </a:xfrm>
          <a:prstGeom prst="roundRect">
            <a:avLst>
              <a:gd name="adj" fmla="val 13725"/>
            </a:avLst>
          </a:prstGeom>
          <a:solidFill>
            <a:srgbClr val="071A33"/>
          </a:solidFill>
          <a:ln w="9525">
            <a:solidFill>
              <a:srgbClr val="071A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1718EB-A4CB-4DA4-B844-46515FCD7C12}"/>
              </a:ext>
            </a:extLst>
          </p:cNvPr>
          <p:cNvSpPr>
            <a:spLocks noGrp="1"/>
          </p:cNvSpPr>
          <p:nvPr/>
        </p:nvSpPr>
        <p:spPr>
          <a:xfrm>
            <a:off x="10096500" y="3552825"/>
            <a:ext cx="1181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Rebalancer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300B68A-FD0B-4CF2-A5CF-4894CD65C406}"/>
              </a:ext>
            </a:extLst>
          </p:cNvPr>
          <p:cNvSpPr>
            <a:spLocks noGrp="1"/>
          </p:cNvSpPr>
          <p:nvPr/>
        </p:nvSpPr>
        <p:spPr>
          <a:xfrm>
            <a:off x="10096500" y="3876675"/>
            <a:ext cx="1181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defPPr>
            <a:lvl1pPr algn="ctr"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1pPr>
            <a:lvl2pPr algn="ctr"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2pPr>
            <a:lvl3pPr algn="ctr"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3pPr>
            <a:lvl4pPr algn="ctr"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4pPr>
            <a:lvl5pPr algn="ctr"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5pPr>
            <a:lvl6pPr algn="ctr"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6pPr>
            <a:lvl7pPr algn="ctr"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7pPr>
            <a:lvl8pPr algn="ctr"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8pPr>
            <a:lvl9pPr algn="ctr"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9D9E9"/>
                </a:solidFill>
                <a:latin typeface="Aptos"/>
                <a:ea typeface="Aptos"/>
                <a:cs typeface="Aptos"/>
              </a:rPr>
              <a:t>FastAPI +</a:t>
            </a:r>
          </a:p>
          <a:p>
            <a:pPr algn="ctr">
              <a:lnSpc>
                <a:spcPct val="105000"/>
              </a:lnSpc>
              <a:buNone/>
              <a:defRPr sz="1050" b="0">
                <a:solidFill>
                  <a:srgbClr val="C9D9E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9D9E9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BB0BE54-DEFA-4D98-B729-253D9C4390E0}"/>
              </a:ext>
            </a:extLst>
          </p:cNvPr>
          <p:cNvSpPr>
            <a:spLocks noGrp="1"/>
          </p:cNvSpPr>
          <p:nvPr/>
        </p:nvSpPr>
        <p:spPr>
          <a:xfrm>
            <a:off x="723900" y="5429250"/>
            <a:ext cx="1072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ctr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ctr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ctr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ctr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ctr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ctr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ctr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ctr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ctr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lnSpc>
                <a:spcPct val="105000"/>
              </a:lnSpc>
              <a:buNone/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Processed NewsAPI article IDs persist locally, so a previously processed article cannot change portfolio weights again until reset.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6042E18-959D-4EB7-B0E2-14109DDFEF3F}"/>
              </a:ext>
            </a:extLst>
          </p:cNvPr>
          <p:cNvSpPr>
            <a:spLocks noGrp="1"/>
          </p:cNvSpPr>
          <p:nvPr/>
        </p:nvSpPr>
        <p:spPr>
          <a:xfrm>
            <a:off x="666750" y="640080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4125259-FC03-442D-A2F0-5742FB06F846}"/>
              </a:ext>
            </a:extLst>
          </p:cNvPr>
          <p:cNvSpPr>
            <a:spLocks noGrp="1"/>
          </p:cNvSpPr>
          <p:nvPr/>
        </p:nvSpPr>
        <p:spPr>
          <a:xfrm>
            <a:off x="666750" y="6543675"/>
            <a:ext cx="8382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AI/NLP Financial Risk Engine  |  S&amp;P Global &amp; Crisil Campus Hackathon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433A9F2-277A-4C97-A8E9-5B4A31436301}"/>
              </a:ext>
            </a:extLst>
          </p:cNvPr>
          <p:cNvSpPr>
            <a:spLocks noGrp="1"/>
          </p:cNvSpPr>
          <p:nvPr/>
        </p:nvSpPr>
        <p:spPr>
          <a:xfrm>
            <a:off x="10953750" y="65151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lnSpc>
                <a:spcPct val="105000"/>
              </a:lnSpc>
              <a:buNone/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08182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ection">
            <a:extLst>
              <a:ext uri="{FF2B5EF4-FFF2-40B4-BE49-F238E27FC236}">
                <a16:creationId xmlns:a16="http://schemas.microsoft.com/office/drawing/2014/main" id="{F5FF97B1-99EB-4457-AC92-3A051C203E6E}"/>
              </a:ext>
            </a:extLst>
          </p:cNvPr>
          <p:cNvSpPr>
            <a:spLocks noGrp="1"/>
          </p:cNvSpPr>
          <p:nvPr/>
        </p:nvSpPr>
        <p:spPr>
          <a:xfrm>
            <a:off x="666750" y="4572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04  |  IMPLEMENTATION HIGHLIGHTS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FC3F48E-E417-48C7-A4BE-D0B0437A0878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76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/>
          </a:bodyPr>
          <a:lstStyle>
            <a:def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2850" b="1" dirty="0">
                <a:solidFill>
                  <a:srgbClr val="071A33"/>
                </a:solidFill>
                <a:latin typeface="Aptos"/>
                <a:ea typeface="Aptos"/>
                <a:cs typeface="Aptos"/>
              </a:rPr>
              <a:t>Pretrained language models replace simple keyword rules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BB5D777C-3045-483E-B483-2CE1E1E6D7CD}"/>
              </a:ext>
            </a:extLst>
          </p:cNvPr>
          <p:cNvSpPr>
            <a:spLocks noGrp="1"/>
          </p:cNvSpPr>
          <p:nvPr/>
        </p:nvSpPr>
        <p:spPr>
          <a:xfrm>
            <a:off x="666750" y="163830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53657A"/>
                </a:solidFill>
                <a:latin typeface="Aptos"/>
                <a:ea typeface="Aptos"/>
                <a:cs typeface="Aptos"/>
              </a:rPr>
              <a:t>The system separates ingestion, interpretation, and portfolio execution.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A61C67-8A20-478D-9B29-7FE130F20D5F}"/>
              </a:ext>
            </a:extLst>
          </p:cNvPr>
          <p:cNvSpPr>
            <a:spLocks noGrp="1"/>
          </p:cNvSpPr>
          <p:nvPr/>
        </p:nvSpPr>
        <p:spPr>
          <a:xfrm>
            <a:off x="666750" y="188595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D3B64C-8483-4F28-85F9-DC4A502D8268}"/>
              </a:ext>
            </a:extLst>
          </p:cNvPr>
          <p:cNvSpPr>
            <a:spLocks noGrp="1"/>
          </p:cNvSpPr>
          <p:nvPr/>
        </p:nvSpPr>
        <p:spPr>
          <a:xfrm>
            <a:off x="857250" y="2724150"/>
            <a:ext cx="10477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46C0C-65AA-4E41-AA5F-92EDF57AAFC1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F138E4-768A-447F-92F7-124F4AE3A1EE}"/>
              </a:ext>
            </a:extLst>
          </p:cNvPr>
          <p:cNvSpPr>
            <a:spLocks noGrp="1"/>
          </p:cNvSpPr>
          <p:nvPr/>
        </p:nvSpPr>
        <p:spPr>
          <a:xfrm>
            <a:off x="1619250" y="2305050"/>
            <a:ext cx="295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Ingestion and state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84324E-132C-4557-A52F-9EDEED515C50}"/>
              </a:ext>
            </a:extLst>
          </p:cNvPr>
          <p:cNvSpPr>
            <a:spLocks noGrp="1"/>
          </p:cNvSpPr>
          <p:nvPr/>
        </p:nvSpPr>
        <p:spPr>
          <a:xfrm>
            <a:off x="1619250" y="2952750"/>
            <a:ext cx="35242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>
            <a:def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NewsAPI retrieves current English language articles for the mock portfolio. The engine stores processed article IDs to prevent repeated portfolio changes from the same live article.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CF39BC-7426-4582-8A03-04FB27DB2FA7}"/>
              </a:ext>
            </a:extLst>
          </p:cNvPr>
          <p:cNvSpPr>
            <a:spLocks noGrp="1"/>
          </p:cNvSpPr>
          <p:nvPr/>
        </p:nvSpPr>
        <p:spPr>
          <a:xfrm>
            <a:off x="1619250" y="432435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DC5D1B-7B17-4C92-89EE-EA937EA1E828}"/>
              </a:ext>
            </a:extLst>
          </p:cNvPr>
          <p:cNvSpPr>
            <a:spLocks noGrp="1"/>
          </p:cNvSpPr>
          <p:nvPr/>
        </p:nvSpPr>
        <p:spPr>
          <a:xfrm>
            <a:off x="1619250" y="4610100"/>
            <a:ext cx="3429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C213E"/>
                </a:solidFill>
                <a:latin typeface="Aptos"/>
                <a:ea typeface="Aptos"/>
                <a:cs typeface="Aptos"/>
              </a:rPr>
              <a:t>It keeps reruns interpretable and makes the reset behavior explicit.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DA2A28-E544-405F-9BB6-AC8423D14B84}"/>
              </a:ext>
            </a:extLst>
          </p:cNvPr>
          <p:cNvSpPr>
            <a:spLocks noGrp="1"/>
          </p:cNvSpPr>
          <p:nvPr/>
        </p:nvSpPr>
        <p:spPr>
          <a:xfrm>
            <a:off x="5772150" y="2114550"/>
            <a:ext cx="9525" cy="3333750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581D6D-2695-4109-A2BA-48DA05F15D69}"/>
              </a:ext>
            </a:extLst>
          </p:cNvPr>
          <p:cNvSpPr>
            <a:spLocks noGrp="1"/>
          </p:cNvSpPr>
          <p:nvPr/>
        </p:nvSpPr>
        <p:spPr>
          <a:xfrm>
            <a:off x="6191250" y="226695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8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5A1A43-CEB5-4FD5-8EFE-1A82F884F834}"/>
              </a:ext>
            </a:extLst>
          </p:cNvPr>
          <p:cNvSpPr>
            <a:spLocks noGrp="1"/>
          </p:cNvSpPr>
          <p:nvPr/>
        </p:nvSpPr>
        <p:spPr>
          <a:xfrm>
            <a:off x="6953250" y="23050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8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NLP interpretation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818198-8147-4F82-8A0E-FAB60736B033}"/>
              </a:ext>
            </a:extLst>
          </p:cNvPr>
          <p:cNvSpPr>
            <a:spLocks noGrp="1"/>
          </p:cNvSpPr>
          <p:nvPr/>
        </p:nvSpPr>
        <p:spPr>
          <a:xfrm>
            <a:off x="6953250" y="2952750"/>
            <a:ext cx="3619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FinBERT reads financial sentiment from complete text. A BART zero-shot classifier assigns an event category such as Earnings, Regulatory, Macroeconomic, or Geopolitical.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52968A-A417-4951-BCB8-33F0DC2CECD4}"/>
              </a:ext>
            </a:extLst>
          </p:cNvPr>
          <p:cNvSpPr>
            <a:spLocks noGrp="1"/>
          </p:cNvSpPr>
          <p:nvPr/>
        </p:nvSpPr>
        <p:spPr>
          <a:xfrm>
            <a:off x="6953250" y="432435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1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25285E-1DAC-4258-BF3D-E29DDB9DC151}"/>
              </a:ext>
            </a:extLst>
          </p:cNvPr>
          <p:cNvSpPr>
            <a:spLocks noGrp="1"/>
          </p:cNvSpPr>
          <p:nvPr/>
        </p:nvSpPr>
        <p:spPr>
          <a:xfrm>
            <a:off x="6953250" y="4610100"/>
            <a:ext cx="3714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C213E"/>
                </a:solidFill>
                <a:latin typeface="Aptos"/>
                <a:ea typeface="Aptos"/>
                <a:cs typeface="Aptos"/>
              </a:rPr>
              <a:t>The models can consider context, mixed wording, and negation that keyword matching misses.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A0AE75-5275-4355-BC02-9CD67684ABE2}"/>
              </a:ext>
            </a:extLst>
          </p:cNvPr>
          <p:cNvSpPr>
            <a:spLocks noGrp="1"/>
          </p:cNvSpPr>
          <p:nvPr/>
        </p:nvSpPr>
        <p:spPr>
          <a:xfrm>
            <a:off x="857250" y="5619750"/>
            <a:ext cx="10477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97ACF0-8593-45D9-BE01-295482FC33DE}"/>
              </a:ext>
            </a:extLst>
          </p:cNvPr>
          <p:cNvSpPr>
            <a:spLocks noGrp="1"/>
          </p:cNvSpPr>
          <p:nvPr/>
        </p:nvSpPr>
        <p:spPr>
          <a:xfrm>
            <a:off x="857250" y="582930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26BFD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6BFD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0F3BF8-884A-4178-986A-7002152F158A}"/>
              </a:ext>
            </a:extLst>
          </p:cNvPr>
          <p:cNvSpPr>
            <a:spLocks noGrp="1"/>
          </p:cNvSpPr>
          <p:nvPr/>
        </p:nvSpPr>
        <p:spPr>
          <a:xfrm>
            <a:off x="1619250" y="5829300"/>
            <a:ext cx="2333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Portfolio execution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175F552-3BC0-42BC-BC58-46B154DF094E}"/>
              </a:ext>
            </a:extLst>
          </p:cNvPr>
          <p:cNvSpPr>
            <a:spLocks noGrp="1"/>
          </p:cNvSpPr>
          <p:nvPr/>
        </p:nvSpPr>
        <p:spPr>
          <a:xfrm>
            <a:off x="4286250" y="5829300"/>
            <a:ext cx="685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6202" lnSpcReduction="10000"/>
          </a:bodyPr>
          <a:lstStyle>
            <a:def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The rebalancer starts at equal 10% weights, then uses the latest stored weights as the base for later runs. The dashboard shows previous and updated allocations with a reset action.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C2C72B-2D3A-4600-809A-F610D85CFE20}"/>
              </a:ext>
            </a:extLst>
          </p:cNvPr>
          <p:cNvSpPr>
            <a:spLocks noGrp="1"/>
          </p:cNvSpPr>
          <p:nvPr/>
        </p:nvSpPr>
        <p:spPr>
          <a:xfrm>
            <a:off x="666750" y="640080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7C8B13-31FD-4553-9B5C-8E37EA341F7E}"/>
              </a:ext>
            </a:extLst>
          </p:cNvPr>
          <p:cNvSpPr>
            <a:spLocks noGrp="1"/>
          </p:cNvSpPr>
          <p:nvPr/>
        </p:nvSpPr>
        <p:spPr>
          <a:xfrm>
            <a:off x="666750" y="6543675"/>
            <a:ext cx="8382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AI/NLP Financial Risk Engine  |  S&amp;P Global &amp; Crisil Campus Hackathon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E530CF-EF47-4D62-806C-1340CD7C92CD}"/>
              </a:ext>
            </a:extLst>
          </p:cNvPr>
          <p:cNvSpPr>
            <a:spLocks noGrp="1"/>
          </p:cNvSpPr>
          <p:nvPr/>
        </p:nvSpPr>
        <p:spPr>
          <a:xfrm>
            <a:off x="10953750" y="65151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lnSpc>
                <a:spcPct val="105000"/>
              </a:lnSpc>
              <a:buNone/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08913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ection">
            <a:extLst>
              <a:ext uri="{FF2B5EF4-FFF2-40B4-BE49-F238E27FC236}">
                <a16:creationId xmlns:a16="http://schemas.microsoft.com/office/drawing/2014/main" id="{469B08A4-F765-4BD8-A7E9-C776AF16632C}"/>
              </a:ext>
            </a:extLst>
          </p:cNvPr>
          <p:cNvSpPr>
            <a:spLocks noGrp="1"/>
          </p:cNvSpPr>
          <p:nvPr/>
        </p:nvSpPr>
        <p:spPr>
          <a:xfrm>
            <a:off x="666750" y="4572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05  |  KEY RESULTS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2B089EE-3E5C-451D-98E0-18225BB05752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76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2657" lnSpcReduction="10000"/>
          </a:bodyPr>
          <a:lstStyle>
            <a:def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The prototype produces a structured, explainable risk signal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3486732A-4718-434B-809D-5269C0645429}"/>
              </a:ext>
            </a:extLst>
          </p:cNvPr>
          <p:cNvSpPr>
            <a:spLocks noGrp="1"/>
          </p:cNvSpPr>
          <p:nvPr/>
        </p:nvSpPr>
        <p:spPr>
          <a:xfrm>
            <a:off x="666750" y="165735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53657A"/>
                </a:solidFill>
                <a:latin typeface="Aptos"/>
                <a:ea typeface="Aptos"/>
                <a:cs typeface="Aptos"/>
              </a:rPr>
              <a:t>Each source item becomes model output that the rebalancer and dashboard can consume.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E21830-2665-4917-8C6E-BE4A99D0FBEA}"/>
              </a:ext>
            </a:extLst>
          </p:cNvPr>
          <p:cNvSpPr>
            <a:spLocks noGrp="1"/>
          </p:cNvSpPr>
          <p:nvPr/>
        </p:nvSpPr>
        <p:spPr>
          <a:xfrm>
            <a:off x="666750" y="188595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112707-65C3-4E3F-9BBC-74CB170A2222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EXAMPLE SIGNAL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C018F7-F043-480F-A202-A821E564A52D}"/>
              </a:ext>
            </a:extLst>
          </p:cNvPr>
          <p:cNvSpPr>
            <a:spLocks noGrp="1"/>
          </p:cNvSpPr>
          <p:nvPr/>
        </p:nvSpPr>
        <p:spPr>
          <a:xfrm>
            <a:off x="857250" y="2609850"/>
            <a:ext cx="4476750" cy="2952750"/>
          </a:xfrm>
          <a:prstGeom prst="roundRect">
            <a:avLst>
              <a:gd name="adj" fmla="val 3871"/>
            </a:avLst>
          </a:prstGeom>
          <a:solidFill>
            <a:srgbClr val="071A33"/>
          </a:solidFill>
          <a:ln w="9525">
            <a:solidFill>
              <a:srgbClr val="071A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BF4A14-7708-4A9C-A688-6DCBE6E1162C}"/>
              </a:ext>
            </a:extLst>
          </p:cNvPr>
          <p:cNvSpPr>
            <a:spLocks noGrp="1"/>
          </p:cNvSpPr>
          <p:nvPr/>
        </p:nvSpPr>
        <p:spPr>
          <a:xfrm>
            <a:off x="1181100" y="2971800"/>
            <a:ext cx="381000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6F6F8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6F6F8"/>
                </a:solidFill>
                <a:latin typeface="Consolas"/>
                <a:ea typeface="Consolas"/>
                <a:cs typeface="Consolas"/>
              </a:rPr>
              <a:t>  "source": "newsapi",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6F6F8"/>
                </a:solidFill>
                <a:latin typeface="Consolas"/>
                <a:ea typeface="Consolas"/>
                <a:cs typeface="Consolas"/>
              </a:rPr>
              <a:t>  "company": "NVDA",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6F6F8"/>
                </a:solidFill>
                <a:latin typeface="Consolas"/>
                <a:ea typeface="Consolas"/>
                <a:cs typeface="Consolas"/>
              </a:rPr>
              <a:t>  "sentiment_score": 0.74,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6F6F8"/>
                </a:solidFill>
                <a:latin typeface="Consolas"/>
                <a:ea typeface="Consolas"/>
                <a:cs typeface="Consolas"/>
              </a:rPr>
              <a:t>  "sentiment_label": "positive",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6F6F8"/>
                </a:solidFill>
                <a:latin typeface="Consolas"/>
                <a:ea typeface="Consolas"/>
                <a:cs typeface="Consolas"/>
              </a:rPr>
              <a:t>  "event_classification": "Earnings",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6F6F8"/>
                </a:solidFill>
                <a:latin typeface="Consolas"/>
                <a:ea typeface="Consolas"/>
                <a:cs typeface="Consolas"/>
              </a:rPr>
              <a:t>  "impact_score": 7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D6F6F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6F6F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942E7E-859E-4643-B125-971AED3FDCAB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441"/>
          </a:bodyPr>
          <a:lstStyle>
            <a:def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2025" b="1" dirty="0">
                <a:solidFill>
                  <a:srgbClr val="071A33"/>
                </a:solidFill>
                <a:latin typeface="Aptos"/>
                <a:ea typeface="Aptos"/>
                <a:cs typeface="Aptos"/>
              </a:rPr>
              <a:t>What the dashboard</a:t>
            </a:r>
            <a:r>
              <a:rPr lang="en-IN" sz="2025" b="1" dirty="0">
                <a:solidFill>
                  <a:srgbClr val="071A33"/>
                </a:solidFill>
                <a:latin typeface="Aptos"/>
                <a:ea typeface="Aptos"/>
                <a:cs typeface="Aptos"/>
              </a:rPr>
              <a:t> </a:t>
            </a:r>
            <a:r>
              <a:rPr sz="2025" b="1" dirty="0">
                <a:solidFill>
                  <a:srgbClr val="071A33"/>
                </a:solidFill>
                <a:latin typeface="Aptos"/>
                <a:ea typeface="Aptos"/>
                <a:cs typeface="Aptos"/>
              </a:rPr>
              <a:t>demonstrates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E6D71D5-6A4F-4BBD-8D63-207C2AB60DC3}"/>
              </a:ext>
            </a:extLst>
          </p:cNvPr>
          <p:cNvSpPr>
            <a:spLocks noGrp="1"/>
          </p:cNvSpPr>
          <p:nvPr/>
        </p:nvSpPr>
        <p:spPr>
          <a:xfrm>
            <a:off x="6248400" y="30384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9A6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751C5A-6861-46FA-AA47-C49CCD4730FF}"/>
              </a:ext>
            </a:extLst>
          </p:cNvPr>
          <p:cNvSpPr>
            <a:spLocks noGrp="1"/>
          </p:cNvSpPr>
          <p:nvPr/>
        </p:nvSpPr>
        <p:spPr>
          <a:xfrm>
            <a:off x="6457950" y="2952750"/>
            <a:ext cx="43624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0C213E"/>
                </a:solidFill>
                <a:latin typeface="Aptos"/>
                <a:ea typeface="Aptos"/>
                <a:cs typeface="Aptos"/>
              </a:rPr>
              <a:t>Live </a:t>
            </a:r>
            <a:r>
              <a:rPr sz="1350" b="0" dirty="0" err="1">
                <a:solidFill>
                  <a:srgbClr val="0C213E"/>
                </a:solidFill>
                <a:latin typeface="Aptos"/>
                <a:ea typeface="Aptos"/>
                <a:cs typeface="Aptos"/>
              </a:rPr>
              <a:t>NewsAPI</a:t>
            </a:r>
            <a:r>
              <a:rPr sz="1350" b="0" dirty="0">
                <a:solidFill>
                  <a:srgbClr val="0C213E"/>
                </a:solidFill>
                <a:latin typeface="Aptos"/>
                <a:ea typeface="Aptos"/>
                <a:cs typeface="Aptos"/>
              </a:rPr>
              <a:t> articles and social CSV posts feed a single analysis run.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C08DA92-FAD3-421E-AD90-9995CC1643EC}"/>
              </a:ext>
            </a:extLst>
          </p:cNvPr>
          <p:cNvSpPr>
            <a:spLocks noGrp="1"/>
          </p:cNvSpPr>
          <p:nvPr/>
        </p:nvSpPr>
        <p:spPr>
          <a:xfrm>
            <a:off x="6248400" y="35528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9A6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6945CB-A3A1-4E02-B03B-7BDB7384C791}"/>
              </a:ext>
            </a:extLst>
          </p:cNvPr>
          <p:cNvSpPr>
            <a:spLocks noGrp="1"/>
          </p:cNvSpPr>
          <p:nvPr/>
        </p:nvSpPr>
        <p:spPr>
          <a:xfrm>
            <a:off x="6457950" y="3467100"/>
            <a:ext cx="43624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0C213E"/>
                </a:solidFill>
                <a:latin typeface="Aptos"/>
                <a:ea typeface="Aptos"/>
                <a:cs typeface="Aptos"/>
              </a:rPr>
              <a:t>The interface displays sentiment, confidence, event type, impact score, and source.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D85F459-81CF-4FB0-85B9-A0AB5B3AC36A}"/>
              </a:ext>
            </a:extLst>
          </p:cNvPr>
          <p:cNvSpPr>
            <a:spLocks noGrp="1"/>
          </p:cNvSpPr>
          <p:nvPr/>
        </p:nvSpPr>
        <p:spPr>
          <a:xfrm>
            <a:off x="6248400" y="40671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9A6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93855A-945D-4D71-AD2B-9A22929DA105}"/>
              </a:ext>
            </a:extLst>
          </p:cNvPr>
          <p:cNvSpPr>
            <a:spLocks noGrp="1"/>
          </p:cNvSpPr>
          <p:nvPr/>
        </p:nvSpPr>
        <p:spPr>
          <a:xfrm>
            <a:off x="6457950" y="3981450"/>
            <a:ext cx="43624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C213E"/>
                </a:solidFill>
                <a:latin typeface="Aptos"/>
                <a:ea typeface="Aptos"/>
                <a:cs typeface="Aptos"/>
              </a:rPr>
              <a:t>Previous and rebalanced weights show the portfolio response for each run.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473714D-143E-4F85-8F37-2DB8813DD0CF}"/>
              </a:ext>
            </a:extLst>
          </p:cNvPr>
          <p:cNvSpPr>
            <a:spLocks noGrp="1"/>
          </p:cNvSpPr>
          <p:nvPr/>
        </p:nvSpPr>
        <p:spPr>
          <a:xfrm>
            <a:off x="6248400" y="45815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9A6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2610059-3D4A-4833-ABBB-949F861B039A}"/>
              </a:ext>
            </a:extLst>
          </p:cNvPr>
          <p:cNvSpPr>
            <a:spLocks noGrp="1"/>
          </p:cNvSpPr>
          <p:nvPr/>
        </p:nvSpPr>
        <p:spPr>
          <a:xfrm>
            <a:off x="6457950" y="4495800"/>
            <a:ext cx="4362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0C213E"/>
                </a:solidFill>
                <a:latin typeface="Aptos"/>
                <a:ea typeface="Aptos"/>
                <a:cs typeface="Aptos"/>
              </a:rPr>
              <a:t>Portfolio history makes weight changes visible over time.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A5E2B29-93E3-4472-B688-E5E107855D9A}"/>
              </a:ext>
            </a:extLst>
          </p:cNvPr>
          <p:cNvSpPr>
            <a:spLocks noGrp="1"/>
          </p:cNvSpPr>
          <p:nvPr/>
        </p:nvSpPr>
        <p:spPr>
          <a:xfrm>
            <a:off x="6248400" y="4932721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9A6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4FCA7F-E118-4E2B-9AF0-262D7A6967E0}"/>
              </a:ext>
            </a:extLst>
          </p:cNvPr>
          <p:cNvSpPr>
            <a:spLocks noGrp="1"/>
          </p:cNvSpPr>
          <p:nvPr/>
        </p:nvSpPr>
        <p:spPr>
          <a:xfrm>
            <a:off x="6457950" y="4876800"/>
            <a:ext cx="43624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0C213E"/>
                </a:solidFill>
                <a:latin typeface="Aptos"/>
                <a:ea typeface="Aptos"/>
                <a:cs typeface="Aptos"/>
              </a:rPr>
              <a:t>Duplicate </a:t>
            </a:r>
            <a:r>
              <a:rPr sz="1350" b="0" dirty="0" err="1">
                <a:solidFill>
                  <a:srgbClr val="0C213E"/>
                </a:solidFill>
                <a:latin typeface="Aptos"/>
                <a:ea typeface="Aptos"/>
                <a:cs typeface="Aptos"/>
              </a:rPr>
              <a:t>NewsAPI</a:t>
            </a:r>
            <a:r>
              <a:rPr sz="1350" b="0" dirty="0">
                <a:solidFill>
                  <a:srgbClr val="0C213E"/>
                </a:solidFill>
                <a:latin typeface="Aptos"/>
                <a:ea typeface="Aptos"/>
                <a:cs typeface="Aptos"/>
              </a:rPr>
              <a:t> articles are ignored until the portfolio is reset to equal weights.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CD4F21-9F1B-4C63-80FC-A5B4DB49BC16}"/>
              </a:ext>
            </a:extLst>
          </p:cNvPr>
          <p:cNvSpPr>
            <a:spLocks noGrp="1"/>
          </p:cNvSpPr>
          <p:nvPr/>
        </p:nvSpPr>
        <p:spPr>
          <a:xfrm>
            <a:off x="857250" y="5905500"/>
            <a:ext cx="962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0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No price forecast claim: the output is a decision-support signal for a transparent demo rebalancer.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99EB00-379B-4E8E-9C24-1D7782218B70}"/>
              </a:ext>
            </a:extLst>
          </p:cNvPr>
          <p:cNvSpPr>
            <a:spLocks noGrp="1"/>
          </p:cNvSpPr>
          <p:nvPr/>
        </p:nvSpPr>
        <p:spPr>
          <a:xfrm>
            <a:off x="666750" y="640080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7856B2-A8E5-4D57-81F0-B1E51B628275}"/>
              </a:ext>
            </a:extLst>
          </p:cNvPr>
          <p:cNvSpPr>
            <a:spLocks noGrp="1"/>
          </p:cNvSpPr>
          <p:nvPr/>
        </p:nvSpPr>
        <p:spPr>
          <a:xfrm>
            <a:off x="666750" y="6543675"/>
            <a:ext cx="8382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AI/NLP Financial Risk Engine  |  S&amp;P Global &amp; Crisil Campus Hackathon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604C96-A22D-423E-B2BF-C9B9CCB85B09}"/>
              </a:ext>
            </a:extLst>
          </p:cNvPr>
          <p:cNvSpPr>
            <a:spLocks noGrp="1"/>
          </p:cNvSpPr>
          <p:nvPr/>
        </p:nvSpPr>
        <p:spPr>
          <a:xfrm>
            <a:off x="10953750" y="65151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lnSpc>
                <a:spcPct val="105000"/>
              </a:lnSpc>
              <a:buNone/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5314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AF64C1ED-FC35-4CF6-A32B-154C7022827A}"/>
              </a:ext>
            </a:extLst>
          </p:cNvPr>
          <p:cNvSpPr>
            <a:spLocks noGrp="1"/>
          </p:cNvSpPr>
          <p:nvPr/>
        </p:nvSpPr>
        <p:spPr>
          <a:xfrm>
            <a:off x="666750" y="4572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06  |  DOMAIN IMPACT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A7DA3FB-D019-481F-9FDA-47B3E225FFBE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76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/>
          </a:bodyPr>
          <a:lstStyle>
            <a:def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2850" b="1" dirty="0">
                <a:solidFill>
                  <a:srgbClr val="071A33"/>
                </a:solidFill>
                <a:latin typeface="Aptos"/>
                <a:ea typeface="Aptos"/>
                <a:cs typeface="Aptos"/>
              </a:rPr>
              <a:t>A transparent path from market text to portfolio</a:t>
            </a:r>
            <a:r>
              <a:rPr lang="en-IN" sz="2850" b="1" dirty="0">
                <a:solidFill>
                  <a:srgbClr val="071A33"/>
                </a:solidFill>
                <a:latin typeface="Aptos"/>
                <a:ea typeface="Aptos"/>
                <a:cs typeface="Aptos"/>
              </a:rPr>
              <a:t> </a:t>
            </a:r>
            <a:r>
              <a:rPr sz="2850" b="1" dirty="0">
                <a:solidFill>
                  <a:srgbClr val="071A33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BCD5FBB-C584-4086-913B-4CD12DB018A1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53657A"/>
                </a:solidFill>
                <a:latin typeface="Aptos"/>
                <a:ea typeface="Aptos"/>
                <a:cs typeface="Aptos"/>
              </a:rPr>
              <a:t>The prototype focuses on explainable decision support rather than autonomous trading.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1C5FF1-4BE3-44C7-8252-0518D122547B}"/>
              </a:ext>
            </a:extLst>
          </p:cNvPr>
          <p:cNvSpPr>
            <a:spLocks noGrp="1"/>
          </p:cNvSpPr>
          <p:nvPr/>
        </p:nvSpPr>
        <p:spPr>
          <a:xfrm>
            <a:off x="666750" y="188595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34D254-67AF-444F-AFE6-660C6F5F2FD7}"/>
              </a:ext>
            </a:extLst>
          </p:cNvPr>
          <p:cNvSpPr>
            <a:spLocks noGrp="1"/>
          </p:cNvSpPr>
          <p:nvPr/>
        </p:nvSpPr>
        <p:spPr>
          <a:xfrm>
            <a:off x="857250" y="2400300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TEXT INPUT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FBA50E-B762-4570-841A-5B7970D3E15C}"/>
              </a:ext>
            </a:extLst>
          </p:cNvPr>
          <p:cNvSpPr>
            <a:spLocks noGrp="1"/>
          </p:cNvSpPr>
          <p:nvPr/>
        </p:nvSpPr>
        <p:spPr>
          <a:xfrm>
            <a:off x="857250" y="2724150"/>
            <a:ext cx="2571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683" lnSpcReduction="10000"/>
          </a:bodyPr>
          <a:lstStyle>
            <a:def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Financial news and social posts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D1F2A-5BCC-4D59-BD71-CC5EB577F501}"/>
              </a:ext>
            </a:extLst>
          </p:cNvPr>
          <p:cNvSpPr>
            <a:spLocks noGrp="1"/>
          </p:cNvSpPr>
          <p:nvPr/>
        </p:nvSpPr>
        <p:spPr>
          <a:xfrm>
            <a:off x="857250" y="3486150"/>
            <a:ext cx="26860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A risk team can start with sources that arrive throughout the day.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C69C97-CF1A-4812-8363-F6E9FAC9EE8C}"/>
              </a:ext>
            </a:extLst>
          </p:cNvPr>
          <p:cNvSpPr>
            <a:spLocks noGrp="1"/>
          </p:cNvSpPr>
          <p:nvPr/>
        </p:nvSpPr>
        <p:spPr>
          <a:xfrm>
            <a:off x="3981450" y="2362200"/>
            <a:ext cx="9525" cy="2476500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E8BC65-8D80-4CD2-B4C6-720B81C9F98D}"/>
              </a:ext>
            </a:extLst>
          </p:cNvPr>
          <p:cNvSpPr>
            <a:spLocks noGrp="1"/>
          </p:cNvSpPr>
          <p:nvPr/>
        </p:nvSpPr>
        <p:spPr>
          <a:xfrm>
            <a:off x="4533900" y="240030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STRUCTURED SIGNAL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425AD4-7EF0-4CBD-9528-67FD8E16944C}"/>
              </a:ext>
            </a:extLst>
          </p:cNvPr>
          <p:cNvSpPr>
            <a:spLocks noGrp="1"/>
          </p:cNvSpPr>
          <p:nvPr/>
        </p:nvSpPr>
        <p:spPr>
          <a:xfrm>
            <a:off x="4533900" y="2724150"/>
            <a:ext cx="2667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Sentiment, event type, confidence, impact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AD051D-940B-4C5B-807C-26FFA652D556}"/>
              </a:ext>
            </a:extLst>
          </p:cNvPr>
          <p:cNvSpPr>
            <a:spLocks noGrp="1"/>
          </p:cNvSpPr>
          <p:nvPr/>
        </p:nvSpPr>
        <p:spPr>
          <a:xfrm>
            <a:off x="4533900" y="3676650"/>
            <a:ext cx="26860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The model output gives reviewers fields they can inspect and challenge.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E62F13-5B0A-4592-8C58-86722CB9D843}"/>
              </a:ext>
            </a:extLst>
          </p:cNvPr>
          <p:cNvSpPr>
            <a:spLocks noGrp="1"/>
          </p:cNvSpPr>
          <p:nvPr/>
        </p:nvSpPr>
        <p:spPr>
          <a:xfrm>
            <a:off x="7667625" y="2362200"/>
            <a:ext cx="9525" cy="2476500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4B8E26-D332-49FB-9921-4272E1E19846}"/>
              </a:ext>
            </a:extLst>
          </p:cNvPr>
          <p:cNvSpPr>
            <a:spLocks noGrp="1"/>
          </p:cNvSpPr>
          <p:nvPr/>
        </p:nvSpPr>
        <p:spPr>
          <a:xfrm>
            <a:off x="8229600" y="2400300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PORTFOLIO RESPONSE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1D3A40-F21D-41EF-BF26-FB5A1405B80F}"/>
              </a:ext>
            </a:extLst>
          </p:cNvPr>
          <p:cNvSpPr>
            <a:spLocks noGrp="1"/>
          </p:cNvSpPr>
          <p:nvPr/>
        </p:nvSpPr>
        <p:spPr>
          <a:xfrm>
            <a:off x="8229600" y="2724150"/>
            <a:ext cx="26098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9206"/>
          </a:bodyPr>
          <a:lstStyle>
            <a:def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202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Weight change with history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D8E70F-FD0B-4621-A781-1C0BCE0BAC6F}"/>
              </a:ext>
            </a:extLst>
          </p:cNvPr>
          <p:cNvSpPr>
            <a:spLocks noGrp="1"/>
          </p:cNvSpPr>
          <p:nvPr/>
        </p:nvSpPr>
        <p:spPr>
          <a:xfrm>
            <a:off x="8229600" y="3486150"/>
            <a:ext cx="26098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A transparent rebalance rule makes the connection between a signal and an exposure change clear.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057AEFD-44DE-4069-997A-BCD232CA037E}"/>
              </a:ext>
            </a:extLst>
          </p:cNvPr>
          <p:cNvSpPr>
            <a:spLocks noGrp="1"/>
          </p:cNvSpPr>
          <p:nvPr/>
        </p:nvSpPr>
        <p:spPr>
          <a:xfrm>
            <a:off x="857250" y="5238750"/>
            <a:ext cx="10477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1B5453-69B8-4D67-8A7D-B4C6A6D219D1}"/>
              </a:ext>
            </a:extLst>
          </p:cNvPr>
          <p:cNvSpPr>
            <a:spLocks noGrp="1"/>
          </p:cNvSpPr>
          <p:nvPr/>
        </p:nvSpPr>
        <p:spPr>
          <a:xfrm>
            <a:off x="857250" y="556260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6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Domain value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9D767A-11F8-4B35-8B4D-C06EA10B6CC3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7810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500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C213E"/>
                </a:solidFill>
                <a:latin typeface="Aptos"/>
                <a:ea typeface="Aptos"/>
                <a:cs typeface="Aptos"/>
              </a:rPr>
              <a:t>The engine gives a research or risk workflow a consistent first pass over large amounts of text, while the dashboard preserves the source and reasoning that led to each portfolio adjustment.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93A250-8506-4900-8660-74B78C8F2209}"/>
              </a:ext>
            </a:extLst>
          </p:cNvPr>
          <p:cNvSpPr>
            <a:spLocks noGrp="1"/>
          </p:cNvSpPr>
          <p:nvPr/>
        </p:nvSpPr>
        <p:spPr>
          <a:xfrm>
            <a:off x="666750" y="640080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4FF702-14CF-4579-8A25-E84A78FB6191}"/>
              </a:ext>
            </a:extLst>
          </p:cNvPr>
          <p:cNvSpPr>
            <a:spLocks noGrp="1"/>
          </p:cNvSpPr>
          <p:nvPr/>
        </p:nvSpPr>
        <p:spPr>
          <a:xfrm>
            <a:off x="666750" y="6543675"/>
            <a:ext cx="8382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AI/NLP Financial Risk Engine  |  S&amp;P Global &amp; Crisil Campus Hackathon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913E75D-1A11-49C9-8B3D-62B2E292FCC5}"/>
              </a:ext>
            </a:extLst>
          </p:cNvPr>
          <p:cNvSpPr>
            <a:spLocks noGrp="1"/>
          </p:cNvSpPr>
          <p:nvPr/>
        </p:nvSpPr>
        <p:spPr>
          <a:xfrm>
            <a:off x="10953750" y="65151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lnSpc>
                <a:spcPct val="105000"/>
              </a:lnSpc>
              <a:buNone/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54788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ection">
            <a:extLst>
              <a:ext uri="{FF2B5EF4-FFF2-40B4-BE49-F238E27FC236}">
                <a16:creationId xmlns:a16="http://schemas.microsoft.com/office/drawing/2014/main" id="{56626FC3-3330-497C-9266-4D0B896E5C75}"/>
              </a:ext>
            </a:extLst>
          </p:cNvPr>
          <p:cNvSpPr>
            <a:spLocks noGrp="1"/>
          </p:cNvSpPr>
          <p:nvPr/>
        </p:nvSpPr>
        <p:spPr>
          <a:xfrm>
            <a:off x="666750" y="4572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07  |  LIMITATIONS &amp; NEXT STEPS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5276126-B5CF-4768-9AC1-D9CC9F580BCA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76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2850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Scope, assumptions, and a practical path forward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43140D53-8FE1-4EA3-91F4-56707A6B8E1B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350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The current system is a hackathon prototype with intentionally transparent rules.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A64FCE-5ECF-4B0C-BB26-5E984C7F2869}"/>
              </a:ext>
            </a:extLst>
          </p:cNvPr>
          <p:cNvSpPr>
            <a:spLocks noGrp="1"/>
          </p:cNvSpPr>
          <p:nvPr/>
        </p:nvSpPr>
        <p:spPr>
          <a:xfrm>
            <a:off x="666750" y="188595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38BADA-AE3E-4D0B-A2E9-04D5E2964612}"/>
              </a:ext>
            </a:extLst>
          </p:cNvPr>
          <p:cNvSpPr>
            <a:spLocks noGrp="1"/>
          </p:cNvSpPr>
          <p:nvPr/>
        </p:nvSpPr>
        <p:spPr>
          <a:xfrm>
            <a:off x="857250" y="23241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CURRENT SCOPE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6F1E82-8C00-4849-9EC4-83D0B8F046D7}"/>
              </a:ext>
            </a:extLst>
          </p:cNvPr>
          <p:cNvSpPr>
            <a:spLocks noGrp="1"/>
          </p:cNvSpPr>
          <p:nvPr/>
        </p:nvSpPr>
        <p:spPr>
          <a:xfrm>
            <a:off x="6477000" y="23241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97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NEXT EXTENSIONS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3CA9F0-28C3-45D2-A948-A44308FFF305}"/>
              </a:ext>
            </a:extLst>
          </p:cNvPr>
          <p:cNvSpPr>
            <a:spLocks noGrp="1"/>
          </p:cNvSpPr>
          <p:nvPr/>
        </p:nvSpPr>
        <p:spPr>
          <a:xfrm>
            <a:off x="6000750" y="2286000"/>
            <a:ext cx="9525" cy="3371850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BBC063-48E5-456B-BA28-7E1F563CCABD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Market context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182452-438B-4BC8-9BA6-2DCF280CD76F}"/>
              </a:ext>
            </a:extLst>
          </p:cNvPr>
          <p:cNvSpPr>
            <a:spLocks noGrp="1"/>
          </p:cNvSpPr>
          <p:nvPr/>
        </p:nvSpPr>
        <p:spPr>
          <a:xfrm>
            <a:off x="857250" y="3124200"/>
            <a:ext cx="43434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Signals use text only and do not yet combine price, volume, or broader market data.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3A46D0-9209-4AB3-A2E9-17F8AFB7D0BE}"/>
              </a:ext>
            </a:extLst>
          </p:cNvPr>
          <p:cNvSpPr>
            <a:spLocks noGrp="1"/>
          </p:cNvSpPr>
          <p:nvPr/>
        </p:nvSpPr>
        <p:spPr>
          <a:xfrm>
            <a:off x="857250" y="37528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Portfolio rule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52406-AED9-4614-96E8-F8A35E12607E}"/>
              </a:ext>
            </a:extLst>
          </p:cNvPr>
          <p:cNvSpPr>
            <a:spLocks noGrp="1"/>
          </p:cNvSpPr>
          <p:nvPr/>
        </p:nvSpPr>
        <p:spPr>
          <a:xfrm>
            <a:off x="857250" y="4095750"/>
            <a:ext cx="43434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The weight adjustment is transparent for demonstration and has limited constraints.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A40BD9-AD0E-4F9B-8A7E-76FED7219298}"/>
              </a:ext>
            </a:extLst>
          </p:cNvPr>
          <p:cNvSpPr>
            <a:spLocks noGrp="1"/>
          </p:cNvSpPr>
          <p:nvPr/>
        </p:nvSpPr>
        <p:spPr>
          <a:xfrm>
            <a:off x="857250" y="47244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Source coverage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857020-949C-4B40-A2C4-5E18ED54AF11}"/>
              </a:ext>
            </a:extLst>
          </p:cNvPr>
          <p:cNvSpPr>
            <a:spLocks noGrp="1"/>
          </p:cNvSpPr>
          <p:nvPr/>
        </p:nvSpPr>
        <p:spPr>
          <a:xfrm>
            <a:off x="857250" y="5067300"/>
            <a:ext cx="43434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Social input uses a controlled CSV scenario file rather than a live authenticated feed.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3BD87-CE2D-420F-B2D4-79D7A13E29BA}"/>
              </a:ext>
            </a:extLst>
          </p:cNvPr>
          <p:cNvSpPr>
            <a:spLocks noGrp="1"/>
          </p:cNvSpPr>
          <p:nvPr/>
        </p:nvSpPr>
        <p:spPr>
          <a:xfrm>
            <a:off x="6477000" y="27813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Backtesting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953808-2759-4DFF-A887-A66435CFE68F}"/>
              </a:ext>
            </a:extLst>
          </p:cNvPr>
          <p:cNvSpPr>
            <a:spLocks noGrp="1"/>
          </p:cNvSpPr>
          <p:nvPr/>
        </p:nvSpPr>
        <p:spPr>
          <a:xfrm>
            <a:off x="6477000" y="3124200"/>
            <a:ext cx="43434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Measure signal quality against historical price movement and refine impact calibration.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C9C8C8-6CFE-46BB-95A3-B5CEDA44CD94}"/>
              </a:ext>
            </a:extLst>
          </p:cNvPr>
          <p:cNvSpPr>
            <a:spLocks noGrp="1"/>
          </p:cNvSpPr>
          <p:nvPr/>
        </p:nvSpPr>
        <p:spPr>
          <a:xfrm>
            <a:off x="6477000" y="37528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Entity resolution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B3AF4A-ECF7-4E93-9950-7E4DB0A83F0E}"/>
              </a:ext>
            </a:extLst>
          </p:cNvPr>
          <p:cNvSpPr>
            <a:spLocks noGrp="1"/>
          </p:cNvSpPr>
          <p:nvPr/>
        </p:nvSpPr>
        <p:spPr>
          <a:xfrm>
            <a:off x="6477000" y="4095750"/>
            <a:ext cx="43434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Improve company identification, aliases, and multi-company article handling.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8B5304-433D-4481-849F-2FF2DD09651F}"/>
              </a:ext>
            </a:extLst>
          </p:cNvPr>
          <p:cNvSpPr>
            <a:spLocks noGrp="1"/>
          </p:cNvSpPr>
          <p:nvPr/>
        </p:nvSpPr>
        <p:spPr>
          <a:xfrm>
            <a:off x="6477000" y="47244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575" b="1">
                <a:solidFill>
                  <a:srgbClr val="071A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71A33"/>
                </a:solidFill>
                <a:latin typeface="Aptos"/>
                <a:ea typeface="Aptos"/>
                <a:cs typeface="Aptos"/>
              </a:rPr>
              <a:t>Risk controls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EBA3B0-C1BD-4492-961A-A4EEEB508E39}"/>
              </a:ext>
            </a:extLst>
          </p:cNvPr>
          <p:cNvSpPr>
            <a:spLocks noGrp="1"/>
          </p:cNvSpPr>
          <p:nvPr/>
        </p:nvSpPr>
        <p:spPr>
          <a:xfrm>
            <a:off x="6477000" y="5067300"/>
            <a:ext cx="43434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27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Add exposure caps, sector limits, market data, and a human review queue for high-impact events.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DE5358-97E9-4588-9607-69F75C66D509}"/>
              </a:ext>
            </a:extLst>
          </p:cNvPr>
          <p:cNvSpPr>
            <a:spLocks noGrp="1"/>
          </p:cNvSpPr>
          <p:nvPr/>
        </p:nvSpPr>
        <p:spPr>
          <a:xfrm>
            <a:off x="857250" y="601980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425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Thank you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E41C3C-0950-495A-A846-5CECB79FDC1E}"/>
              </a:ext>
            </a:extLst>
          </p:cNvPr>
          <p:cNvSpPr>
            <a:spLocks noGrp="1"/>
          </p:cNvSpPr>
          <p:nvPr/>
        </p:nvSpPr>
        <p:spPr>
          <a:xfrm>
            <a:off x="2400300" y="6019800"/>
            <a:ext cx="609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1425" b="0">
                <a:solidFill>
                  <a:srgbClr val="0C213E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C213E"/>
                </a:solidFill>
                <a:latin typeface="Aptos"/>
                <a:ea typeface="Aptos"/>
                <a:cs typeface="Aptos"/>
              </a:rPr>
              <a:t>Questions and live dashboard demonstration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DCCB40E-9939-4957-BB39-CC1CB0DE445F}"/>
              </a:ext>
            </a:extLst>
          </p:cNvPr>
          <p:cNvSpPr>
            <a:spLocks noGrp="1"/>
          </p:cNvSpPr>
          <p:nvPr/>
        </p:nvSpPr>
        <p:spPr>
          <a:xfrm>
            <a:off x="666750" y="6400800"/>
            <a:ext cx="10858500" cy="9525"/>
          </a:xfrm>
          <a:prstGeom prst="rect">
            <a:avLst/>
          </a:prstGeom>
          <a:solidFill>
            <a:srgbClr val="C9D5E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E74920-79F7-4D34-AA5C-D39C69E16600}"/>
              </a:ext>
            </a:extLst>
          </p:cNvPr>
          <p:cNvSpPr>
            <a:spLocks noGrp="1"/>
          </p:cNvSpPr>
          <p:nvPr/>
        </p:nvSpPr>
        <p:spPr>
          <a:xfrm>
            <a:off x="666750" y="6543675"/>
            <a:ext cx="8382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lnSpc>
                <a:spcPct val="105000"/>
              </a:lnSpc>
              <a:buNone/>
              <a:defRPr sz="825" b="0">
                <a:solidFill>
                  <a:srgbClr val="53657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57A"/>
                </a:solidFill>
                <a:latin typeface="Aptos"/>
                <a:ea typeface="Aptos"/>
                <a:cs typeface="Aptos"/>
              </a:rPr>
              <a:t>AI/NLP Financial Risk Engine  |  S&amp;P Global &amp; Crisil Campus Hackathon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C0ED3B8-F7F6-4954-BB77-8F749047F85C}"/>
              </a:ext>
            </a:extLst>
          </p:cNvPr>
          <p:cNvSpPr>
            <a:spLocks noGrp="1"/>
          </p:cNvSpPr>
          <p:nvPr/>
        </p:nvSpPr>
        <p:spPr>
          <a:xfrm>
            <a:off x="10953750" y="65151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defPPr>
            <a:lvl1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1pPr>
            <a:lvl2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2pPr>
            <a:lvl3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3pPr>
            <a:lvl4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4pPr>
            <a:lvl5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5pPr>
            <a:lvl6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6pPr>
            <a:lvl7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7pPr>
            <a:lvl8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8pPr>
            <a:lvl9pPr algn="r"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lnSpc>
                <a:spcPct val="105000"/>
              </a:lnSpc>
              <a:buNone/>
              <a:defRPr sz="900" b="1">
                <a:solidFill>
                  <a:srgbClr val="0F8D9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D9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5859530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950</Words>
  <Application>Microsoft Office PowerPoint</Application>
  <DocSecurity>0</DocSecurity>
  <PresentationFormat>Widescreen</PresentationFormat>
  <Paragraphs>134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Dakshesh Garg</cp:lastModifiedBy>
  <cp:revision>6</cp:revision>
  <dcterms:created xsi:type="dcterms:W3CDTF">2026-10-19T07:51:51Z</dcterms:created>
  <dcterms:modified xsi:type="dcterms:W3CDTF">2026-10-19T08:19:01Z</dcterms:modified>
</cp:coreProperties>
</file>